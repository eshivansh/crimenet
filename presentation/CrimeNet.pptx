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21" Type="http://schemas.openxmlformats.org/officeDocument/2006/relationships/notesSlide" Target="notesSlides/notesSlide2.xml"/><Relationship Id="rId22" Type="http://schemas.openxmlformats.org/officeDocument/2006/relationships/notesSlide" Target="notesSlides/notesSlide3.xml"/><Relationship Id="rId23" Type="http://schemas.openxmlformats.org/officeDocument/2006/relationships/notesSlide" Target="notesSlides/notesSlide4.xml"/><Relationship Id="rId24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23528" y="133443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7" y="0"/>
                </a:lnTo>
                <a:lnTo>
                  <a:pt x="6957907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25458" y="2757649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61668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2350770"/>
            <a:ext cx="12281917" cy="624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>
                <a:solidFill>
                  <a:srgbClr val="FF8000"/>
                </a:solidFill>
                <a:latin typeface="Arial Bold"/>
                <a:ea typeface="Arial Bold"/>
                <a:cs typeface="Arial Bold"/>
                <a:sym typeface="Arial Bold"/>
              </a:rPr>
              <a:t>26190</a:t>
            </a:r>
          </a:p>
          <a:p>
            <a:pPr algn="just" marL="542925" indent="-271462" lvl="1">
              <a:lnSpc>
                <a:spcPts val="567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 -</a:t>
            </a: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>
                <a:solidFill>
                  <a:srgbClr val="FF8000"/>
                </a:solidFill>
                <a:latin typeface="Arial Bold"/>
                <a:ea typeface="Arial Bold"/>
                <a:cs typeface="Arial Bold"/>
                <a:sym typeface="Arial Bold"/>
              </a:rPr>
              <a:t>Secure Digital Document Management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System for Legal and Investigation Documents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-</a:t>
            </a: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>
                <a:solidFill>
                  <a:srgbClr val="FF8000"/>
                </a:solidFill>
                <a:latin typeface="Arial Bold"/>
                <a:ea typeface="Arial Bold"/>
                <a:cs typeface="Arial Bold"/>
                <a:sym typeface="Arial Bold"/>
              </a:rPr>
              <a:t>Blockchain &amp; Cybersecurity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 -</a:t>
            </a: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>
                <a:solidFill>
                  <a:srgbClr val="FF8000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 -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-</a:t>
            </a: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000">
                <a:solidFill>
                  <a:srgbClr val="FF8000"/>
                </a:solidFill>
                <a:latin typeface="Arial Bold"/>
                <a:ea typeface="Arial Bold"/>
                <a:cs typeface="Arial Bold"/>
                <a:sym typeface="Arial Bold"/>
              </a:rPr>
              <a:t>CrimeNet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CrimeNet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346653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CrimeNet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1725751"/>
            <a:ext cx="18373602" cy="7935100"/>
          </a:xfrm>
          <a:custGeom>
            <a:avLst/>
            <a:gdLst/>
            <a:ahLst/>
            <a:cxnLst/>
            <a:rect r="r" b="b" t="t" l="l"/>
            <a:pathLst>
              <a:path h="7935100" w="18373602">
                <a:moveTo>
                  <a:pt x="0" y="0"/>
                </a:moveTo>
                <a:lnTo>
                  <a:pt x="18373602" y="0"/>
                </a:lnTo>
                <a:lnTo>
                  <a:pt x="18373602" y="7935099"/>
                </a:lnTo>
                <a:lnTo>
                  <a:pt x="0" y="7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9651325"/>
            <a:ext cx="18288000" cy="626150"/>
            <a:chOff x="0" y="0"/>
            <a:chExt cx="24384000" cy="8348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834866"/>
            </a:xfrm>
            <a:custGeom>
              <a:avLst/>
              <a:gdLst/>
              <a:ahLst/>
              <a:cxnLst/>
              <a:rect r="r" b="b" t="t" l="l"/>
              <a:pathLst>
                <a:path h="83486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34866"/>
                  </a:lnTo>
                  <a:lnTo>
                    <a:pt x="0" y="834866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970936" y="4058436"/>
            <a:ext cx="5262413" cy="2965920"/>
            <a:chOff x="0" y="0"/>
            <a:chExt cx="1405708" cy="792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5708" cy="792264"/>
            </a:xfrm>
            <a:custGeom>
              <a:avLst/>
              <a:gdLst/>
              <a:ahLst/>
              <a:cxnLst/>
              <a:rect r="r" b="b" t="t" l="l"/>
              <a:pathLst>
                <a:path h="792264" w="1405708">
                  <a:moveTo>
                    <a:pt x="0" y="0"/>
                  </a:moveTo>
                  <a:lnTo>
                    <a:pt x="1405708" y="0"/>
                  </a:lnTo>
                  <a:lnTo>
                    <a:pt x="1405708" y="792264"/>
                  </a:lnTo>
                  <a:lnTo>
                    <a:pt x="0" y="792264"/>
                  </a:lnTo>
                  <a:close/>
                </a:path>
              </a:pathLst>
            </a:custGeom>
            <a:solidFill>
              <a:srgbClr val="FAFBF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05708" cy="830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716265" y="3973750"/>
            <a:ext cx="1415746" cy="3082590"/>
          </a:xfrm>
          <a:custGeom>
            <a:avLst/>
            <a:gdLst/>
            <a:ahLst/>
            <a:cxnLst/>
            <a:rect r="r" b="b" t="t" l="l"/>
            <a:pathLst>
              <a:path h="3082590" w="1415746">
                <a:moveTo>
                  <a:pt x="0" y="0"/>
                </a:moveTo>
                <a:lnTo>
                  <a:pt x="1415746" y="0"/>
                </a:lnTo>
                <a:lnTo>
                  <a:pt x="1415746" y="3082590"/>
                </a:lnTo>
                <a:lnTo>
                  <a:pt x="0" y="30825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" t="0" r="-1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44417" y="3973750"/>
            <a:ext cx="1415746" cy="3082590"/>
          </a:xfrm>
          <a:custGeom>
            <a:avLst/>
            <a:gdLst/>
            <a:ahLst/>
            <a:cxnLst/>
            <a:rect r="r" b="b" t="t" l="l"/>
            <a:pathLst>
              <a:path h="3082590" w="1415746">
                <a:moveTo>
                  <a:pt x="0" y="0"/>
                </a:moveTo>
                <a:lnTo>
                  <a:pt x="1415745" y="0"/>
                </a:lnTo>
                <a:lnTo>
                  <a:pt x="1415745" y="3082590"/>
                </a:lnTo>
                <a:lnTo>
                  <a:pt x="0" y="3082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" t="0" r="-11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70936" y="3973750"/>
            <a:ext cx="1415746" cy="3082590"/>
          </a:xfrm>
          <a:custGeom>
            <a:avLst/>
            <a:gdLst/>
            <a:ahLst/>
            <a:cxnLst/>
            <a:rect r="r" b="b" t="t" l="l"/>
            <a:pathLst>
              <a:path h="3082590" w="1415746">
                <a:moveTo>
                  <a:pt x="0" y="0"/>
                </a:moveTo>
                <a:lnTo>
                  <a:pt x="1415745" y="0"/>
                </a:lnTo>
                <a:lnTo>
                  <a:pt x="1415745" y="3082590"/>
                </a:lnTo>
                <a:lnTo>
                  <a:pt x="0" y="30825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" t="0" r="-1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006346" y="4233988"/>
            <a:ext cx="1344924" cy="2760590"/>
          </a:xfrm>
          <a:custGeom>
            <a:avLst/>
            <a:gdLst/>
            <a:ahLst/>
            <a:cxnLst/>
            <a:rect r="r" b="b" t="t" l="l"/>
            <a:pathLst>
              <a:path h="2760590" w="1344924">
                <a:moveTo>
                  <a:pt x="0" y="0"/>
                </a:moveTo>
                <a:lnTo>
                  <a:pt x="1344925" y="0"/>
                </a:lnTo>
                <a:lnTo>
                  <a:pt x="1344925" y="2760589"/>
                </a:lnTo>
                <a:lnTo>
                  <a:pt x="0" y="27605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3" t="-6797" r="-21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655890" y="9708475"/>
            <a:ext cx="250374" cy="4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sz="3315" spc="92">
                <a:solidFill>
                  <a:srgbClr val="FBFCF9"/>
                </a:solidFill>
                <a:latin typeface="Georgia Pro"/>
                <a:ea typeface="Georgia Pro"/>
                <a:cs typeface="Georgia Pro"/>
                <a:sym typeface="Georgia Pr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103120"/>
            <a:ext cx="16093440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0055D4"/>
                </a:solidFill>
              </a:defRPr>
            </a:pPr>
            <a:r>
              <a:t>PROPOSED SOLUTION: CrimeNet — Zero-Trust Investigation &amp; Evidence Fabric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Strategic Ecosystem Alignment: </a:t>
            </a:r>
            <a:r>
              <a:rPr b="0" sz="1500">
                <a:solidFill>
                  <a:srgbClr val="1E293B"/>
                </a:solidFill>
              </a:rPr>
              <a:t>CrimeNet does NOT attempt to replace existing national databases (CCTNS, eCourts, eSakshya, eOffice). Instead, it sits above them as a Zero-Trust Document, Evidence Provenance, and Intelligence Fabric enforcing end-to-end cryptographic integrity across the criminal justice lifecycle.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Case-Centric Unified Dossier: </a:t>
            </a:r>
            <a:r>
              <a:rPr b="0" sz="1500">
                <a:solidFill>
                  <a:srgbClr val="1E293B"/>
                </a:solidFill>
              </a:rPr>
              <a:t>Aggregates FIRs, witness depositions, forensic laboratory reports, CCTV bitstream images, and judicial filings into an immutable case workspace indexed by cryptographic hash identifiers.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PostgreSQL Row-Level Security (RLS) &amp; AES-256-GCM: </a:t>
            </a:r>
            <a:r>
              <a:rPr b="0" sz="1500">
                <a:solidFill>
                  <a:srgbClr val="1E293B"/>
                </a:solidFill>
              </a:rPr>
              <a:t>Multi-tenant department isolation ensures witness and victim PII entries in database tables are strictly partitioned. Unassigned officers or external queries return zero rows directly at the database engine level.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Pessimistic Custody Locking (SELECT ... FOR UPDATE): </a:t>
            </a:r>
            <a:r>
              <a:rPr b="0" sz="1500">
                <a:solidFill>
                  <a:srgbClr val="1E293B"/>
                </a:solidFill>
              </a:rPr>
              <a:t>Strict row-level locking eliminates split-brain custody handover race conditions during physical and digital evidence transfers between police stations, forensic labs, and court registries.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Automated Document Versioning &amp; Audit Chains: </a:t>
            </a:r>
            <a:r>
              <a:rPr b="0" sz="1500">
                <a:solidFill>
                  <a:srgbClr val="1E293B"/>
                </a:solidFill>
              </a:rPr>
              <a:t>Full immutable version tracking (v1, v2) with cryptographic diff verification, preventing unauthorized retroactive modifications while keeping a permanent audit trail of every modification.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Field-Ready Mobile PWA with Document OCR: </a:t>
            </a:r>
            <a:r>
              <a:rPr b="0" sz="1500">
                <a:solidFill>
                  <a:srgbClr val="1E293B"/>
                </a:solidFill>
              </a:rPr>
              <a:t>Progressive Web App installable directly on officers' smartphones with offline support, biometrics, dynamic island status, and AI-assisted OCR extracting legal metadata from scanned FIRs in seconds.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346653"/>
            <a:ext cx="1915887" cy="1249101"/>
            <a:chOff x="0" y="0"/>
            <a:chExt cx="2554516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CrimeNet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1643062"/>
            <a:ext cx="18288000" cy="7567612"/>
          </a:xfrm>
          <a:custGeom>
            <a:avLst/>
            <a:gdLst/>
            <a:ahLst/>
            <a:cxnLst/>
            <a:rect r="r" b="b" t="t" l="l"/>
            <a:pathLst>
              <a:path h="7567612" w="18288000">
                <a:moveTo>
                  <a:pt x="0" y="0"/>
                </a:moveTo>
                <a:lnTo>
                  <a:pt x="18288000" y="0"/>
                </a:lnTo>
                <a:lnTo>
                  <a:pt x="18288000" y="7567613"/>
                </a:lnTo>
                <a:lnTo>
                  <a:pt x="0" y="7567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4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655890" y="9696006"/>
            <a:ext cx="250374" cy="4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sz="3315" spc="92">
                <a:solidFill>
                  <a:srgbClr val="FBFCF9"/>
                </a:solidFill>
                <a:latin typeface="Georgia Pro"/>
                <a:ea typeface="Georgia Pro"/>
                <a:cs typeface="Georgia Pro"/>
                <a:sym typeface="Georgia Pr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03120"/>
            <a:ext cx="16093440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0055D4"/>
                </a:solidFill>
              </a:defRPr>
            </a:pPr>
            <a:r>
              <a:t>TECHNICAL ARCHITECTURE &amp; HIGH-LEVEL SYSTEM FLOW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Enterprise Core &amp; Microservices: </a:t>
            </a:r>
            <a:r>
              <a:rPr b="0" sz="1500">
                <a:solidFill>
                  <a:srgbClr val="1E293B"/>
                </a:solidFill>
              </a:rPr>
              <a:t>Engineered on Spring Boot 3 (Java 21) with Keycloak OAuth2/OpenID Connect for clearance-based access tokens, and Spring Data JPA with row-level security enforcement.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Immutable Storage Tier (WORM Object Locking): </a:t>
            </a:r>
            <a:r>
              <a:rPr b="0" sz="1500">
                <a:solidFill>
                  <a:srgbClr val="1E293B"/>
                </a:solidFill>
              </a:rPr>
              <a:t>MinIO / AWS S3 distributed object storage with Write-Once-Read-Many (WORM) Object Lock. Active legal-hold files cannot be deleted or modified, even by system administrators.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Asynchronous Event Fabric &amp; Fast Search: </a:t>
            </a:r>
            <a:r>
              <a:rPr b="0" sz="1500">
                <a:solidFill>
                  <a:srgbClr val="1E293B"/>
                </a:solidFill>
              </a:rPr>
              <a:t>RabbitMQ worker queues decouple document uploads from CPU-intensive OCR extraction and blockchain anchoring. OpenSearch distributed cluster enables sub-second full-text investigation queries across millions of pages.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Blockchain Merkle Provenance (Polygon Amoy Testnet): </a:t>
            </a:r>
            <a:r>
              <a:rPr b="0" sz="1500">
                <a:solidFill>
                  <a:srgbClr val="1E293B"/>
                </a:solidFill>
              </a:rPr>
              <a:t>Document Provenance Anchor smart contract (DocumentProvenanceAnchor.sol) deployed live on Polygon Amoy (Chain ID 80002) at 0x6B76859551315E47041064F48E201b0c2E5832a7. Merkle batching aggregates thousands of document actions into a single on-chain root hash.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Hexagonal Integration Gateway (ICJS / CCTNS / eSakshya): </a:t>
            </a:r>
            <a:r>
              <a:rPr b="0" sz="1500">
                <a:solidFill>
                  <a:srgbClr val="1E293B"/>
                </a:solidFill>
              </a:rPr>
              <a:t>Ports-and-Adapters integration fabric connecting to National Crime Records Bureau (NCRB) ICJS pillars over NICNET/SWAN with 2-way mTLS X.509 client certificates and automated mock-to-live profile toggles.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CrimeNet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1701403"/>
            <a:ext cx="18288000" cy="7772400"/>
          </a:xfrm>
          <a:custGeom>
            <a:avLst/>
            <a:gdLst/>
            <a:ahLst/>
            <a:cxnLst/>
            <a:rect r="r" b="b" t="t" l="l"/>
            <a:pathLst>
              <a:path h="7772400" w="18288000">
                <a:moveTo>
                  <a:pt x="0" y="0"/>
                </a:moveTo>
                <a:lnTo>
                  <a:pt x="18288000" y="0"/>
                </a:lnTo>
                <a:lnTo>
                  <a:pt x="18288000" y="7772400"/>
                </a:lnTo>
                <a:lnTo>
                  <a:pt x="0" y="7772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655890" y="9708475"/>
            <a:ext cx="250374" cy="4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sz="3315" spc="92">
                <a:solidFill>
                  <a:srgbClr val="FBFCF9"/>
                </a:solidFill>
                <a:latin typeface="Georgia Pro"/>
                <a:ea typeface="Georgia Pro"/>
                <a:cs typeface="Georgia Pro"/>
                <a:sym typeface="Georgia Pr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03120"/>
            <a:ext cx="16093440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0055D4"/>
                </a:solidFill>
              </a:defRPr>
            </a:pPr>
            <a:r>
              <a:t>FEASIBILITY, DEPLOYABILITY &amp; ECONOMIC VIABILITY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100% Free &amp; Open-Source Stack: </a:t>
            </a:r>
            <a:r>
              <a:rPr b="0" sz="1500">
                <a:solidFill>
                  <a:srgbClr val="1E293B"/>
                </a:solidFill>
              </a:rPr>
              <a:t>Zero proprietary license fees. Built entirely on industry-standard open-source technologies (PostgreSQL, MinIO, Redis, RabbitMQ, OpenSearch, OpenPDF, ZXing, Web3j). No recurring vendor lock-in costs for government agencies.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Cost-Effective Blockchain Anchoring: </a:t>
            </a:r>
            <a:r>
              <a:rPr b="0" sz="1500">
                <a:solidFill>
                  <a:srgbClr val="1E293B"/>
                </a:solidFill>
              </a:rPr>
              <a:t>By utilizing Merkle tree roots, CrimeNet compresses up to 10,000 document audit events into a single on-chain transaction. On Polygon L2 or state government private EVM subnets, transaction cost per evidence piece is less than ₹0.01.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Horizontal Scalability &amp; High Availability: </a:t>
            </a:r>
            <a:r>
              <a:rPr b="0" sz="1500">
                <a:solidFill>
                  <a:srgbClr val="1E293B"/>
                </a:solidFill>
              </a:rPr>
              <a:t>Stateless Spring Boot backend services scale horizontally behind standard reverse proxies and load balancers. Redis caching provides sub-5ms token and permissions resolution.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Deployable on NIC MeghRaj Cloud &amp; Air-Gapped Police Servers: </a:t>
            </a:r>
            <a:r>
              <a:rPr b="0" sz="1500">
                <a:solidFill>
                  <a:srgbClr val="1E293B"/>
                </a:solidFill>
              </a:rPr>
              <a:t>Containerized using Docker Compose and Kubernetes Helm charts. Fully operational in secure state datacenters, NIC government clouds, or completely offline air-gapped forensic environments.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Frictionless Officer Onboarding: </a:t>
            </a:r>
            <a:r>
              <a:rPr b="0" sz="1500">
                <a:solidFill>
                  <a:srgbClr val="1E293B"/>
                </a:solidFill>
              </a:rPr>
              <a:t>Zero client installation required. Officers access the system via standard web browsers or add the PWA directly to mobile home screens with biometric TouchID/FaceID and hardware PIN clearance.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161262"/>
            <a:ext cx="1915887" cy="1249101"/>
            <a:chOff x="0" y="0"/>
            <a:chExt cx="2554516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CrimeNet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236136" cy="1528042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1643063"/>
            <a:ext cx="18288000" cy="7889081"/>
          </a:xfrm>
          <a:custGeom>
            <a:avLst/>
            <a:gdLst/>
            <a:ahLst/>
            <a:cxnLst/>
            <a:rect r="r" b="b" t="t" l="l"/>
            <a:pathLst>
              <a:path h="7889081" w="18288000">
                <a:moveTo>
                  <a:pt x="0" y="0"/>
                </a:moveTo>
                <a:lnTo>
                  <a:pt x="18288000" y="0"/>
                </a:lnTo>
                <a:lnTo>
                  <a:pt x="18288000" y="7889081"/>
                </a:lnTo>
                <a:lnTo>
                  <a:pt x="0" y="7889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582" r="0" b="-232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1536790"/>
            <a:ext cx="18288000" cy="8063527"/>
          </a:xfrm>
          <a:custGeom>
            <a:avLst/>
            <a:gdLst/>
            <a:ahLst/>
            <a:cxnLst/>
            <a:rect r="r" b="b" t="t" l="l"/>
            <a:pathLst>
              <a:path h="8063527" w="18288000">
                <a:moveTo>
                  <a:pt x="0" y="0"/>
                </a:moveTo>
                <a:lnTo>
                  <a:pt x="18288000" y="0"/>
                </a:lnTo>
                <a:lnTo>
                  <a:pt x="18288000" y="8063527"/>
                </a:lnTo>
                <a:lnTo>
                  <a:pt x="0" y="8063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269" r="0" b="-612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655890" y="9708475"/>
            <a:ext cx="250374" cy="4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sz="3315" spc="92">
                <a:solidFill>
                  <a:srgbClr val="FBFCF9"/>
                </a:solidFill>
                <a:latin typeface="Georgia Pro"/>
                <a:ea typeface="Georgia Pro"/>
                <a:cs typeface="Georgia Pro"/>
                <a:sym typeface="Georgia Pr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03120"/>
            <a:ext cx="16093440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0055D4"/>
                </a:solidFill>
              </a:defRPr>
            </a:pPr>
            <a:r>
              <a:t>IMPACT, LEGAL ADMISSIBILITY &amp; OPERATIONAL BENEFITS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Statutory Admissibility (Bharatiya Sakshya Adhiniyam 2023 §65B): </a:t>
            </a:r>
            <a:r>
              <a:rPr b="0" sz="1500">
                <a:solidFill>
                  <a:srgbClr val="1E293B"/>
                </a:solidFill>
              </a:rPr>
              <a:t>Generates court-ready Section 65B Electronic Admissibility Certificates in PDF format with forensic SHA-256 hashes, device provenance, full custody history, verification QR code, and officer RSA digital signature seal.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Elimination of Evidentiary Tampering &amp; Chain Disputes: </a:t>
            </a:r>
            <a:r>
              <a:rPr b="0" sz="1500">
                <a:solidFill>
                  <a:srgbClr val="1E293B"/>
                </a:solidFill>
              </a:rPr>
              <a:t>Every evidence movement, forensic handover, and document modification is immutably timestamped on-chain, eliminating allegations of evidence tampering in sessions and high court proceedings.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Radical Reduction in Investigation Cycle Times: </a:t>
            </a:r>
            <a:r>
              <a:rPr b="0" sz="1500">
                <a:solidFill>
                  <a:srgbClr val="1E293B"/>
                </a:solidFill>
              </a:rPr>
              <a:t>Eliminates paper file transit delays between police stations, forensic science laboratories (FSL), public prosecutors, and court registries with cryptographically authenticated instant digital handovers.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Guaranteed Victim &amp; Informant Privacy: </a:t>
            </a:r>
            <a:r>
              <a:rPr b="0" sz="1500">
                <a:solidFill>
                  <a:srgbClr val="1E293B"/>
                </a:solidFill>
              </a:rPr>
              <a:t>Row-Level Security (RLS) guarantees that sensitive witness identities and survivor statements cannot be leaked or browsed by unauthorized officers, maintaining judicial confidentiality.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Instant Field Ingestion with AI OCR: </a:t>
            </a:r>
            <a:r>
              <a:rPr b="0" sz="1500">
                <a:solidFill>
                  <a:srgbClr val="1E293B"/>
                </a:solidFill>
              </a:rPr>
              <a:t>Field officers can scan physical FIRs, panchnamas, and charge sheets with their smartphone camera, automatically extracting legal entities and indexing them into case files within seconds.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CrimeNet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1714723"/>
            <a:ext cx="18220860" cy="7731670"/>
          </a:xfrm>
          <a:custGeom>
            <a:avLst/>
            <a:gdLst/>
            <a:ahLst/>
            <a:cxnLst/>
            <a:rect r="r" b="b" t="t" l="l"/>
            <a:pathLst>
              <a:path h="7731670" w="18220860">
                <a:moveTo>
                  <a:pt x="0" y="0"/>
                </a:moveTo>
                <a:lnTo>
                  <a:pt x="18220860" y="0"/>
                </a:lnTo>
                <a:lnTo>
                  <a:pt x="18220860" y="7731670"/>
                </a:lnTo>
                <a:lnTo>
                  <a:pt x="0" y="7731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2" r="0" b="-15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655890" y="9708475"/>
            <a:ext cx="250374" cy="4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sz="3315" spc="92">
                <a:solidFill>
                  <a:srgbClr val="FBFCF9"/>
                </a:solidFill>
                <a:latin typeface="Georgia Pro"/>
                <a:ea typeface="Georgia Pro"/>
                <a:cs typeface="Georgia Pro"/>
                <a:sym typeface="Georgia Pro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03120"/>
            <a:ext cx="16093440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0055D4"/>
                </a:solidFill>
              </a:defRPr>
            </a:pPr>
            <a:r>
              <a:t>STATUTORY FRAMEWORK, RESEARCH &amp; REFERENCES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Bharatiya Sakshya Adhiniyam (BSA) 2023 §65B: </a:t>
            </a:r>
            <a:r>
              <a:rPr b="0" sz="1500">
                <a:solidFill>
                  <a:srgbClr val="1E293B"/>
                </a:solidFill>
              </a:rPr>
              <a:t>Mandatory statutory framework for admissibility of electronic records in Indian judicial proceedings, requiring proof of device integrity, hash identity, and custody.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Bharatiya Nagarik Suraksha Sanhita (BNSS) 2023 §105: </a:t>
            </a:r>
            <a:r>
              <a:rPr b="0" sz="1500">
                <a:solidFill>
                  <a:srgbClr val="1E293B"/>
                </a:solidFill>
              </a:rPr>
              <a:t>Statutory requirement for mandatory audio-video electronic recording of search and seizure operations and forensic evidence collection by law enforcement agencies.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Inter-operable Criminal Justice System (ICJS) — NCRB / MHA: </a:t>
            </a:r>
            <a:r>
              <a:rPr b="0" sz="1500">
                <a:solidFill>
                  <a:srgbClr val="1E293B"/>
                </a:solidFill>
              </a:rPr>
              <a:t>Ministry of Home Affairs guidelines for data integration across Police (CCTNS), Courts (eCourts), Prisons (ePrisons), Forensics (eForensics), and Prosecution (eProsecution).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eSakshya Digital Evidence Management — NCRB: </a:t>
            </a:r>
            <a:r>
              <a:rPr b="0" sz="1500">
                <a:solidFill>
                  <a:srgbClr val="1E293B"/>
                </a:solidFill>
              </a:rPr>
              <a:t>Operational nationwide across 15,899+ police stations in 35 States/UTs for recording evidence hashes, media storage, and API data exchange.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Information Technology Act 2000 (§66C, §66D) &amp; BNS 2023: </a:t>
            </a:r>
            <a:r>
              <a:rPr b="0" sz="1500">
                <a:solidFill>
                  <a:srgbClr val="1E293B"/>
                </a:solidFill>
              </a:rPr>
              <a:t>Statutory provisions governing electronic evidence authentication, identity theft, and cyber forensics.</a:t>
            </a:r>
          </a:p>
          <a:p>
            <a:pPr>
              <a:spcAft>
                <a:spcPts val="800"/>
              </a:spcAft>
              <a:defRPr b="1" sz="1600">
                <a:solidFill>
                  <a:srgbClr val="0A192F"/>
                </a:solidFill>
              </a:defRPr>
            </a:pPr>
            <a:r>
              <a:t>• RFC 6962 &amp; NIST SP 800-88 / 800-57: </a:t>
            </a:r>
            <a:r>
              <a:rPr b="0" sz="1500">
                <a:solidFill>
                  <a:srgbClr val="1E293B"/>
                </a:solidFill>
              </a:rPr>
              <a:t>Cryptographic standards for Certificate Transparency, Merkle hash tree auditability, and digital signature key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DAHURONLldI</dc:identifier>
  <dcterms:modified xsi:type="dcterms:W3CDTF">2011-08-01T06:04:30Z</dcterms:modified>
  <cp:revision>1</cp:revision>
  <dc:title>SIH2026-IDEA-Presentation-Format.pptx</dc:title>
</cp:coreProperties>
</file>